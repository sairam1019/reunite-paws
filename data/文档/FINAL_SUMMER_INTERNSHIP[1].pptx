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6" r:id="rId9"/>
    <p:sldId id="267" r:id="rId10"/>
    <p:sldId id="270" r:id="rId11"/>
    <p:sldId id="263" r:id="rId12"/>
    <p:sldId id="264"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1f154beb39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1f154beb39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1f154beb39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f154beb3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1f154beb39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1f154beb39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1f154beb39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1f154beb3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1f154beb39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1f154beb39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1f154beb39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1f154beb39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1f154beb39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1f154beb3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f154beb39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f154beb39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5143500"/>
          </a:xfrm>
          <a:prstGeom prst="rect">
            <a:avLst/>
          </a:prstGeom>
          <a:noFill/>
          <a:ln w="9525">
            <a:noFill/>
          </a:ln>
        </p:spPr>
      </p:pic>
      <p:sp>
        <p:nvSpPr>
          <p:cNvPr id="2051" name="Rectangle 3"/>
          <p:cNvSpPr>
            <a:spLocks noGrp="1" noChangeArrowheads="1"/>
          </p:cNvSpPr>
          <p:nvPr>
            <p:ph type="ctrTitle"/>
          </p:nvPr>
        </p:nvSpPr>
        <p:spPr>
          <a:xfrm>
            <a:off x="468313" y="897731"/>
            <a:ext cx="8207375" cy="812006"/>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469900" y="1816894"/>
            <a:ext cx="8212138" cy="131445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4683919"/>
            <a:ext cx="2133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lvl="0"/>
            <a:endParaRPr lang="en-US"/>
          </a:p>
        </p:txBody>
      </p:sp>
      <p:sp>
        <p:nvSpPr>
          <p:cNvPr id="10" name="Rectangle 6"/>
          <p:cNvSpPr>
            <a:spLocks noGrp="1" noChangeArrowheads="1"/>
          </p:cNvSpPr>
          <p:nvPr>
            <p:ph type="ftr" sz="quarter" idx="3"/>
          </p:nvPr>
        </p:nvSpPr>
        <p:spPr bwMode="auto">
          <a:xfrm>
            <a:off x="3124200" y="4683919"/>
            <a:ext cx="2895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lvl="0"/>
            <a:endParaRPr lang="en-US"/>
          </a:p>
        </p:txBody>
      </p:sp>
      <p:sp>
        <p:nvSpPr>
          <p:cNvPr id="11" name="Rectangle 7"/>
          <p:cNvSpPr>
            <a:spLocks noGrp="1" noChangeArrowheads="1"/>
          </p:cNvSpPr>
          <p:nvPr>
            <p:ph type="sldNum" sz="quarter" idx="4"/>
          </p:nvPr>
        </p:nvSpPr>
        <p:spPr bwMode="auto">
          <a:xfrm>
            <a:off x="6553200" y="4683919"/>
            <a:ext cx="2133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7"/>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881063"/>
            <a:ext cx="4038600" cy="3714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881063"/>
            <a:ext cx="4038600" cy="3714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30238"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0238" y="1878806"/>
            <a:ext cx="3868737"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788"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788" y="740569"/>
            <a:ext cx="4629150" cy="3655219"/>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2875"/>
            <a:ext cx="2057400" cy="44529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42875"/>
            <a:ext cx="6019800" cy="44529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4"/>
          <a:stretch>
            <a:fillRect/>
          </a:stretch>
        </p:blipFill>
        <p:spPr>
          <a:xfrm>
            <a:off x="0" y="0"/>
            <a:ext cx="9156700" cy="5143500"/>
          </a:xfrm>
          <a:prstGeom prst="rect">
            <a:avLst/>
          </a:prstGeom>
          <a:noFill/>
          <a:ln w="9525">
            <a:noFill/>
          </a:ln>
        </p:spPr>
      </p:pic>
      <p:sp>
        <p:nvSpPr>
          <p:cNvPr id="1027" name="Rectangle 3"/>
          <p:cNvSpPr>
            <a:spLocks noGrp="1"/>
          </p:cNvSpPr>
          <p:nvPr>
            <p:ph type="title"/>
          </p:nvPr>
        </p:nvSpPr>
        <p:spPr>
          <a:xfrm>
            <a:off x="457200" y="142875"/>
            <a:ext cx="8229600" cy="436960"/>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881063"/>
            <a:ext cx="8229600" cy="371475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50"/>
            </a:lvl1pPr>
          </a:lstStyle>
          <a:p>
            <a:pPr lvl="0"/>
            <a:endParaRPr lang="en-US"/>
          </a:p>
        </p:txBody>
      </p:sp>
      <p:sp>
        <p:nvSpPr>
          <p:cNvPr id="1030" name="Rectangle 6"/>
          <p:cNvSpPr>
            <a:spLocks noGrp="1" noChangeArrowheads="1"/>
          </p:cNvSpPr>
          <p:nvPr>
            <p:ph type="ftr" sz="quarter" idx="3"/>
          </p:nvPr>
        </p:nvSpPr>
        <p:spPr bwMode="auto">
          <a:xfrm>
            <a:off x="3124200" y="4683919"/>
            <a:ext cx="2895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50"/>
            </a:lvl1pPr>
          </a:lstStyle>
          <a:p>
            <a:pPr lvl="0"/>
            <a:endParaRPr lang="en-US"/>
          </a:p>
        </p:txBody>
      </p:sp>
      <p:sp>
        <p:nvSpPr>
          <p:cNvPr id="1031" name="Rectangle 7"/>
          <p:cNvSpPr>
            <a:spLocks noGrp="1" noChangeArrowheads="1"/>
          </p:cNvSpPr>
          <p:nvPr>
            <p:ph type="sldNum" sz="quarter" idx="4"/>
          </p:nvPr>
        </p:nvSpPr>
        <p:spPr bwMode="auto">
          <a:xfrm>
            <a:off x="6553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50"/>
            </a:lvl1pPr>
          </a:lstStyle>
          <a:p>
            <a:pPr marL="0" lvl="0" indent="0" algn="r" rtl="0">
              <a:spcBef>
                <a:spcPts val="0"/>
              </a:spcBef>
              <a:spcAft>
                <a:spcPts val="0"/>
              </a:spcAft>
              <a:buNone/>
            </a:pPr>
            <a:fld id="{00000000-1234-1234-1234-123412341234}" type="slidenum">
              <a:rPr lang="en-GB"/>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27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14650" y="744575"/>
            <a:ext cx="8717700" cy="13296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a:t>	</a:t>
            </a:r>
            <a:br>
              <a:rPr lang="en-GB"/>
            </a:br>
            <a:r>
              <a:rPr lang="en-US" altLang="en-GB"/>
              <a:t>        </a:t>
            </a:r>
            <a:r>
              <a:rPr lang="en-GB"/>
              <a:t>SUMMER INTERNSHIP</a:t>
            </a:r>
          </a:p>
        </p:txBody>
      </p:sp>
      <p:sp>
        <p:nvSpPr>
          <p:cNvPr id="55" name="Google Shape;55;p13"/>
          <p:cNvSpPr txBox="1">
            <a:spLocks noGrp="1"/>
          </p:cNvSpPr>
          <p:nvPr>
            <p:ph type="subTitle" idx="1"/>
          </p:nvPr>
        </p:nvSpPr>
        <p:spPr>
          <a:xfrm>
            <a:off x="270975" y="2239250"/>
            <a:ext cx="8561400" cy="10467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914400" lvl="0" indent="457200" algn="l" rtl="0">
              <a:spcBef>
                <a:spcPts val="0"/>
              </a:spcBef>
              <a:spcAft>
                <a:spcPts val="0"/>
              </a:spcAft>
              <a:buNone/>
            </a:pPr>
            <a:r>
              <a:rPr lang="en-GB"/>
              <a:t>	</a:t>
            </a:r>
            <a:r>
              <a:rPr lang="en-GB" b="1">
                <a:solidFill>
                  <a:schemeClr val="dk1"/>
                </a:solidFill>
              </a:rPr>
              <a:t>Ambient Light Sensing System</a:t>
            </a:r>
            <a:r>
              <a:rPr lang="en-GB"/>
              <a:t>				</a:t>
            </a:r>
          </a:p>
        </p:txBody>
      </p:sp>
      <p:sp>
        <p:nvSpPr>
          <p:cNvPr id="56" name="Google Shape;56;p13"/>
          <p:cNvSpPr txBox="1"/>
          <p:nvPr/>
        </p:nvSpPr>
        <p:spPr>
          <a:xfrm>
            <a:off x="5555200" y="3960950"/>
            <a:ext cx="3439500" cy="11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solidFill>
                  <a:schemeClr val="dk1"/>
                </a:solidFill>
              </a:rPr>
              <a:t>By : Karnati Dhanush Reddy</a:t>
            </a:r>
            <a:endParaRPr sz="1800" b="1">
              <a:solidFill>
                <a:schemeClr val="dk1"/>
              </a:solidFill>
            </a:endParaRPr>
          </a:p>
          <a:p>
            <a:pPr marL="0" lvl="0" indent="0" algn="l" rtl="0">
              <a:spcBef>
                <a:spcPts val="0"/>
              </a:spcBef>
              <a:spcAft>
                <a:spcPts val="0"/>
              </a:spcAft>
              <a:buNone/>
            </a:pPr>
            <a:r>
              <a:rPr lang="en-GB" sz="1800" b="1">
                <a:solidFill>
                  <a:schemeClr val="dk1"/>
                </a:solidFill>
              </a:rPr>
              <a:t>Roll No : 2451-22-737-002</a:t>
            </a:r>
            <a:endParaRPr sz="1800" b="1">
              <a:solidFill>
                <a:schemeClr val="dk1"/>
              </a:solidFill>
            </a:endParaRPr>
          </a:p>
          <a:p>
            <a:pPr marL="0" lvl="0" indent="0" algn="l" rtl="0">
              <a:spcBef>
                <a:spcPts val="0"/>
              </a:spcBef>
              <a:spcAft>
                <a:spcPts val="0"/>
              </a:spcAft>
              <a:buNone/>
            </a:pPr>
            <a:r>
              <a:rPr lang="en-GB" sz="1800" b="1">
                <a:solidFill>
                  <a:schemeClr val="dk1"/>
                </a:solidFill>
              </a:rPr>
              <a:t>Department : IT </a:t>
            </a:r>
            <a:endParaRPr sz="1800" b="1">
              <a:solidFill>
                <a:schemeClr val="dk1"/>
              </a:solidFill>
            </a:endParaRPr>
          </a:p>
        </p:txBody>
      </p:sp>
      <p:sp>
        <p:nvSpPr>
          <p:cNvPr id="2" name="Text Box 1"/>
          <p:cNvSpPr txBox="1"/>
          <p:nvPr/>
        </p:nvSpPr>
        <p:spPr>
          <a:xfrm>
            <a:off x="342900" y="4067810"/>
            <a:ext cx="4500245" cy="380365"/>
          </a:xfrm>
          <a:prstGeom prst="rect">
            <a:avLst/>
          </a:prstGeom>
          <a:noFill/>
        </p:spPr>
        <p:txBody>
          <a:bodyPr wrap="square" rtlCol="0">
            <a:noAutofit/>
          </a:bodyPr>
          <a:lstStyle/>
          <a:p>
            <a:r>
              <a:rPr lang="en-US" sz="2000" b="1"/>
              <a:t>Team Coordinator : Dr.Ch.Samson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Contents</a:t>
            </a:r>
            <a:endParaRPr b="1"/>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Font typeface="Wingdings" panose="05000000000000000000" charset="0"/>
              <a:buChar char="§"/>
            </a:pPr>
            <a:r>
              <a:rPr lang="en-GB" sz="2000" b="1" dirty="0">
                <a:solidFill>
                  <a:schemeClr val="dk1"/>
                </a:solidFill>
              </a:rPr>
              <a:t>Abs</a:t>
            </a:r>
            <a:r>
              <a:rPr lang="en-GB" sz="2100" b="1" dirty="0">
                <a:solidFill>
                  <a:schemeClr val="dk1"/>
                </a:solidFill>
              </a:rPr>
              <a:t>tract</a:t>
            </a:r>
            <a:endParaRPr sz="2100" b="1" dirty="0">
              <a:solidFill>
                <a:schemeClr val="dk1"/>
              </a:solidFill>
            </a:endParaRPr>
          </a:p>
          <a:p>
            <a:pPr marL="457200" lvl="0" indent="-361950" algn="l" rtl="0">
              <a:spcBef>
                <a:spcPts val="0"/>
              </a:spcBef>
              <a:spcAft>
                <a:spcPts val="0"/>
              </a:spcAft>
              <a:buClr>
                <a:schemeClr val="dk1"/>
              </a:buClr>
              <a:buSzPts val="2100"/>
              <a:buFont typeface="Wingdings" panose="05000000000000000000" charset="0"/>
              <a:buChar char="§"/>
            </a:pPr>
            <a:r>
              <a:rPr lang="en-GB" sz="2100" b="1" dirty="0">
                <a:solidFill>
                  <a:schemeClr val="dk1"/>
                </a:solidFill>
              </a:rPr>
              <a:t>Introduction</a:t>
            </a:r>
            <a:endParaRPr sz="2100" b="1" dirty="0">
              <a:solidFill>
                <a:schemeClr val="dk1"/>
              </a:solidFill>
            </a:endParaRPr>
          </a:p>
          <a:p>
            <a:pPr marL="457200" lvl="0" indent="-361950" algn="l" rtl="0">
              <a:spcBef>
                <a:spcPts val="0"/>
              </a:spcBef>
              <a:spcAft>
                <a:spcPts val="0"/>
              </a:spcAft>
              <a:buClr>
                <a:schemeClr val="dk1"/>
              </a:buClr>
              <a:buSzPts val="2100"/>
              <a:buFont typeface="Wingdings" panose="05000000000000000000" charset="0"/>
              <a:buChar char="§"/>
            </a:pPr>
            <a:r>
              <a:rPr lang="en-GB" sz="2100" b="1" dirty="0">
                <a:solidFill>
                  <a:schemeClr val="dk1"/>
                </a:solidFill>
              </a:rPr>
              <a:t>Problem Statement</a:t>
            </a:r>
            <a:endParaRPr sz="2100" b="1" dirty="0">
              <a:solidFill>
                <a:schemeClr val="dk1"/>
              </a:solidFill>
            </a:endParaRPr>
          </a:p>
          <a:p>
            <a:pPr marL="457200" lvl="0" indent="-361950" algn="l" rtl="0">
              <a:spcBef>
                <a:spcPts val="0"/>
              </a:spcBef>
              <a:spcAft>
                <a:spcPts val="0"/>
              </a:spcAft>
              <a:buClr>
                <a:schemeClr val="dk1"/>
              </a:buClr>
              <a:buSzPts val="2100"/>
              <a:buFont typeface="Wingdings" panose="05000000000000000000" charset="0"/>
              <a:buChar char="§"/>
            </a:pPr>
            <a:r>
              <a:rPr lang="en-GB" sz="2100" b="1" dirty="0">
                <a:solidFill>
                  <a:schemeClr val="dk1"/>
                </a:solidFill>
              </a:rPr>
              <a:t>Existing System</a:t>
            </a:r>
            <a:endParaRPr sz="2100" b="1" dirty="0">
              <a:solidFill>
                <a:schemeClr val="dk1"/>
              </a:solidFill>
            </a:endParaRPr>
          </a:p>
          <a:p>
            <a:pPr marL="457200" lvl="0" indent="-361950" algn="l" rtl="0">
              <a:spcBef>
                <a:spcPts val="0"/>
              </a:spcBef>
              <a:spcAft>
                <a:spcPts val="0"/>
              </a:spcAft>
              <a:buClr>
                <a:schemeClr val="dk1"/>
              </a:buClr>
              <a:buSzPts val="2100"/>
              <a:buFont typeface="Wingdings" panose="05000000000000000000" charset="0"/>
              <a:buChar char="§"/>
            </a:pPr>
            <a:r>
              <a:rPr lang="en-GB" sz="2100" b="1" dirty="0">
                <a:solidFill>
                  <a:schemeClr val="dk1"/>
                </a:solidFill>
              </a:rPr>
              <a:t>Proposed System</a:t>
            </a:r>
          </a:p>
          <a:p>
            <a:pPr marL="457200" lvl="0" indent="-361950" algn="l" rtl="0">
              <a:spcBef>
                <a:spcPts val="0"/>
              </a:spcBef>
              <a:spcAft>
                <a:spcPts val="0"/>
              </a:spcAft>
              <a:buClr>
                <a:schemeClr val="dk1"/>
              </a:buClr>
              <a:buSzPts val="2100"/>
              <a:buFont typeface="Wingdings" panose="05000000000000000000" charset="0"/>
              <a:buChar char="§"/>
            </a:pPr>
            <a:r>
              <a:rPr lang="en-US" altLang="en-GB" sz="2100" b="1" dirty="0">
                <a:solidFill>
                  <a:schemeClr val="dk1"/>
                </a:solidFill>
              </a:rPr>
              <a:t>System Requirements</a:t>
            </a:r>
          </a:p>
          <a:p>
            <a:pPr marL="457200" lvl="0" indent="-361950" algn="l" rtl="0">
              <a:spcBef>
                <a:spcPts val="0"/>
              </a:spcBef>
              <a:spcAft>
                <a:spcPts val="0"/>
              </a:spcAft>
              <a:buClr>
                <a:schemeClr val="dk1"/>
              </a:buClr>
              <a:buSzPts val="2100"/>
              <a:buFont typeface="Wingdings" panose="05000000000000000000" charset="0"/>
              <a:buChar char="§"/>
            </a:pPr>
            <a:r>
              <a:rPr lang="en-US" sz="2100" b="1" dirty="0">
                <a:solidFill>
                  <a:schemeClr val="dk1"/>
                </a:solidFill>
              </a:rPr>
              <a:t>System </a:t>
            </a:r>
            <a:r>
              <a:rPr lang="en-US" sz="2100" b="1" dirty="0" err="1">
                <a:solidFill>
                  <a:schemeClr val="dk1"/>
                </a:solidFill>
              </a:rPr>
              <a:t>Archtecture</a:t>
            </a:r>
            <a:endParaRPr lang="en-US" sz="2100" b="1" dirty="0">
              <a:solidFill>
                <a:schemeClr val="dk1"/>
              </a:solidFill>
            </a:endParaRPr>
          </a:p>
          <a:p>
            <a:pPr marL="457200" lvl="0" indent="-361950" algn="l" rtl="0">
              <a:spcBef>
                <a:spcPts val="0"/>
              </a:spcBef>
              <a:spcAft>
                <a:spcPts val="0"/>
              </a:spcAft>
              <a:buClr>
                <a:schemeClr val="dk1"/>
              </a:buClr>
              <a:buSzPts val="2100"/>
              <a:buFont typeface="Wingdings" panose="05000000000000000000" charset="0"/>
              <a:buChar char="§"/>
            </a:pPr>
            <a:r>
              <a:rPr lang="en-US" sz="2100" b="1" dirty="0">
                <a:solidFill>
                  <a:schemeClr val="dk1"/>
                </a:solidFill>
              </a:rPr>
              <a:t>Results and Analysis</a:t>
            </a:r>
            <a:endParaRPr sz="2100" b="1" dirty="0">
              <a:solidFill>
                <a:schemeClr val="dk1"/>
              </a:solidFill>
            </a:endParaRPr>
          </a:p>
          <a:p>
            <a:pPr marL="457200" lvl="0" indent="-361950" algn="l" rtl="0">
              <a:spcBef>
                <a:spcPts val="0"/>
              </a:spcBef>
              <a:spcAft>
                <a:spcPts val="0"/>
              </a:spcAft>
              <a:buClr>
                <a:schemeClr val="dk1"/>
              </a:buClr>
              <a:buSzPts val="2100"/>
              <a:buFont typeface="Wingdings" panose="05000000000000000000" charset="0"/>
              <a:buChar char="§"/>
            </a:pPr>
            <a:r>
              <a:rPr lang="en-GB" sz="2100" b="1" dirty="0">
                <a:solidFill>
                  <a:schemeClr val="dk1"/>
                </a:solidFill>
              </a:rPr>
              <a:t>Conclusion</a:t>
            </a:r>
          </a:p>
          <a:p>
            <a:pPr marL="457200" lvl="0" indent="-361950" algn="l" rtl="0">
              <a:spcBef>
                <a:spcPts val="0"/>
              </a:spcBef>
              <a:spcAft>
                <a:spcPts val="0"/>
              </a:spcAft>
              <a:buClr>
                <a:schemeClr val="dk1"/>
              </a:buClr>
              <a:buSzPts val="2100"/>
              <a:buFont typeface="Wingdings" panose="05000000000000000000" charset="0"/>
              <a:buChar char="§"/>
            </a:pPr>
            <a:r>
              <a:rPr lang="en-GB" sz="2100" b="1">
                <a:solidFill>
                  <a:schemeClr val="dk1"/>
                </a:solidFill>
              </a:rPr>
              <a:t>Refehkm</a:t>
            </a:r>
            <a:endParaRPr sz="2100" b="1"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u="sng"/>
              <a:t>ABSTRACT</a:t>
            </a:r>
            <a:endParaRPr b="1" u="sng"/>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just" rtl="0">
              <a:spcBef>
                <a:spcPts val="1200"/>
              </a:spcBef>
              <a:spcAft>
                <a:spcPts val="1200"/>
              </a:spcAft>
              <a:buNone/>
            </a:pPr>
            <a:r>
              <a:rPr lang="en-GB">
                <a:solidFill>
                  <a:schemeClr val="dk1"/>
                </a:solidFill>
              </a:rPr>
              <a:t>Ambient light sensing systems are used in various applications, especially in automation and energy efficiency projects. One such system is the Day-Night PhotoCell Sensor. The sensor works by detecting the intensity of ambient light. During the day, when there is sufficient sunlight, the photocell senses high levels of light and sends a signal to switch off the connected light. One of the most significant advantage of an ambient light sensing system is energy saving. By turning off lights during the day and only using them when needed, it minimizes unnecessary electricity consumption.</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u="sng"/>
              <a:t>INTRODUCTION</a:t>
            </a:r>
            <a:endParaRPr b="1" u="sng"/>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rgbClr val="000000"/>
              </a:buClr>
              <a:buSzPts val="1800"/>
              <a:buChar char="●"/>
            </a:pPr>
            <a:r>
              <a:rPr lang="en-GB">
                <a:solidFill>
                  <a:srgbClr val="000000"/>
                </a:solidFill>
              </a:rPr>
              <a:t>The system is relatively simple to install and integrate with existing lighting setups.</a:t>
            </a:r>
            <a:endParaRPr>
              <a:solidFill>
                <a:srgbClr val="000000"/>
              </a:solidFill>
            </a:endParaRPr>
          </a:p>
          <a:p>
            <a:pPr marL="457200" lvl="0" indent="-342900" algn="just" rtl="0">
              <a:spcBef>
                <a:spcPts val="0"/>
              </a:spcBef>
              <a:spcAft>
                <a:spcPts val="0"/>
              </a:spcAft>
              <a:buClr>
                <a:srgbClr val="000000"/>
              </a:buClr>
              <a:buSzPts val="1800"/>
              <a:buChar char="●"/>
            </a:pPr>
            <a:r>
              <a:rPr lang="en-GB">
                <a:solidFill>
                  <a:srgbClr val="000000"/>
                </a:solidFill>
              </a:rPr>
              <a:t>The components of the system are compact and can be easily fitted into various environments.</a:t>
            </a:r>
            <a:endParaRPr>
              <a:solidFill>
                <a:srgbClr val="000000"/>
              </a:solidFill>
            </a:endParaRPr>
          </a:p>
          <a:p>
            <a:pPr marL="457200" lvl="0" indent="-342900" algn="just" rtl="0">
              <a:spcBef>
                <a:spcPts val="0"/>
              </a:spcBef>
              <a:spcAft>
                <a:spcPts val="0"/>
              </a:spcAft>
              <a:buClr>
                <a:srgbClr val="000000"/>
              </a:buClr>
              <a:buSzPts val="1800"/>
              <a:buChar char="●"/>
            </a:pPr>
            <a:r>
              <a:rPr lang="en-GB">
                <a:solidFill>
                  <a:srgbClr val="000000"/>
                </a:solidFill>
              </a:rPr>
              <a:t> Future systems may leverage AI to learn and predict lighting needs, optimizing energy usage based on historical data and environmental trends.</a:t>
            </a:r>
            <a:endParaRPr>
              <a:solidFill>
                <a:srgbClr val="000000"/>
              </a:solidFill>
            </a:endParaRPr>
          </a:p>
          <a:p>
            <a:pPr marL="457200" lvl="0" indent="-342900" algn="just" rtl="0">
              <a:spcBef>
                <a:spcPts val="0"/>
              </a:spcBef>
              <a:spcAft>
                <a:spcPts val="0"/>
              </a:spcAft>
              <a:buClr>
                <a:srgbClr val="000000"/>
              </a:buClr>
              <a:buSzPts val="1800"/>
              <a:buChar char="●"/>
            </a:pPr>
            <a:r>
              <a:rPr lang="en-GB">
                <a:solidFill>
                  <a:srgbClr val="000000"/>
                </a:solidFill>
              </a:rPr>
              <a:t>The future of ambient light sensing systems is promising, with a range of potential advancements and applications.</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u="sng"/>
              <a:t>PROBLEM STATEMENT</a:t>
            </a:r>
            <a:endParaRPr b="1" u="sng"/>
          </a:p>
        </p:txBody>
      </p:sp>
      <p:sp>
        <p:nvSpPr>
          <p:cNvPr id="80" name="Google Shape;8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chemeClr val="dk1"/>
              </a:buClr>
              <a:buSzPts val="1800"/>
              <a:buChar char="➔"/>
            </a:pPr>
            <a:r>
              <a:rPr lang="en-GB">
                <a:solidFill>
                  <a:schemeClr val="dk1"/>
                </a:solidFill>
              </a:rPr>
              <a:t>To develop an AMBIENT LIGHT SENSING SYSTEM that utilizes a Day - Night Photocell Sensor to automatically detect ambient light levels and control lighting devices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u="sng"/>
              <a:t>EXISTING SYSTEM</a:t>
            </a:r>
            <a:endParaRPr b="1" u="sng"/>
          </a:p>
        </p:txBody>
      </p:sp>
      <p:sp>
        <p:nvSpPr>
          <p:cNvPr id="86" name="Google Shape;8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74650" algn="just" rtl="0">
              <a:spcBef>
                <a:spcPts val="0"/>
              </a:spcBef>
              <a:spcAft>
                <a:spcPts val="0"/>
              </a:spcAft>
              <a:buClr>
                <a:schemeClr val="dk1"/>
              </a:buClr>
              <a:buSzPts val="2300"/>
              <a:buChar char="●"/>
            </a:pPr>
            <a:r>
              <a:rPr lang="en-GB" sz="1700">
                <a:solidFill>
                  <a:schemeClr val="dk1"/>
                </a:solidFill>
              </a:rPr>
              <a:t>Delayed switching of lights, causing lights to stay on longer than needed or turn on too early.</a:t>
            </a:r>
            <a:endParaRPr sz="1700">
              <a:solidFill>
                <a:schemeClr val="dk1"/>
              </a:solidFill>
            </a:endParaRPr>
          </a:p>
          <a:p>
            <a:pPr marL="457200" lvl="0" indent="-374650" algn="just" rtl="0">
              <a:spcBef>
                <a:spcPts val="0"/>
              </a:spcBef>
              <a:spcAft>
                <a:spcPts val="0"/>
              </a:spcAft>
              <a:buClr>
                <a:schemeClr val="dk1"/>
              </a:buClr>
              <a:buSzPts val="2300"/>
              <a:buChar char="●"/>
            </a:pPr>
            <a:r>
              <a:rPr lang="en-GB" sz="1900">
                <a:solidFill>
                  <a:schemeClr val="dk1"/>
                </a:solidFill>
              </a:rPr>
              <a:t>T</a:t>
            </a:r>
            <a:r>
              <a:rPr lang="en-GB" sz="1700">
                <a:solidFill>
                  <a:schemeClr val="dk1"/>
                </a:solidFill>
              </a:rPr>
              <a:t>he sensor may either switch the lights on or off based on a fixed light intensity, which may not suit the varying needs of different environments.</a:t>
            </a:r>
            <a:endParaRPr sz="1700">
              <a:solidFill>
                <a:schemeClr val="dk1"/>
              </a:solidFill>
            </a:endParaRPr>
          </a:p>
          <a:p>
            <a:pPr marL="457200" lvl="0" indent="-374650" algn="just" rtl="0">
              <a:spcBef>
                <a:spcPts val="0"/>
              </a:spcBef>
              <a:spcAft>
                <a:spcPts val="0"/>
              </a:spcAft>
              <a:buClr>
                <a:schemeClr val="dk1"/>
              </a:buClr>
              <a:buSzPts val="2300"/>
              <a:buChar char="●"/>
            </a:pPr>
            <a:r>
              <a:rPr lang="en-GB" sz="1700">
                <a:solidFill>
                  <a:schemeClr val="dk1"/>
                </a:solidFill>
              </a:rPr>
              <a:t>The timing of the light switching may not always align perfectly with the natural lighting changes , leading to improper light control.</a:t>
            </a:r>
            <a:endParaRPr sz="1700">
              <a:solidFill>
                <a:schemeClr val="dk1"/>
              </a:solidFill>
            </a:endParaRPr>
          </a:p>
          <a:p>
            <a:pPr marL="457200" lvl="0" indent="0" algn="just" rtl="0">
              <a:spcBef>
                <a:spcPts val="1200"/>
              </a:spcBef>
              <a:spcAft>
                <a:spcPts val="1200"/>
              </a:spcAft>
              <a:buNone/>
            </a:pPr>
            <a:endParaRPr sz="17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u="sng"/>
              <a:t>PROPOSED SYSTEM</a:t>
            </a:r>
            <a:endParaRPr b="1" u="sng"/>
          </a:p>
        </p:txBody>
      </p:sp>
      <p:sp>
        <p:nvSpPr>
          <p:cNvPr id="92" name="Google Shape;9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9250" algn="just" rtl="0">
              <a:spcBef>
                <a:spcPts val="0"/>
              </a:spcBef>
              <a:spcAft>
                <a:spcPts val="0"/>
              </a:spcAft>
              <a:buClr>
                <a:srgbClr val="000000"/>
              </a:buClr>
              <a:buSzPts val="1900"/>
              <a:buChar char="●"/>
            </a:pPr>
            <a:r>
              <a:rPr lang="en-GB" sz="1900">
                <a:solidFill>
                  <a:srgbClr val="000000"/>
                </a:solidFill>
              </a:rPr>
              <a:t>This hybrid approach allows the system to more accurately detect and respond to ambient light conditions, reducing false triggers.</a:t>
            </a:r>
            <a:endParaRPr sz="1900">
              <a:solidFill>
                <a:srgbClr val="000000"/>
              </a:solidFill>
            </a:endParaRPr>
          </a:p>
          <a:p>
            <a:pPr marL="457200" lvl="0" indent="-349250" algn="just" rtl="0">
              <a:spcBef>
                <a:spcPts val="0"/>
              </a:spcBef>
              <a:spcAft>
                <a:spcPts val="0"/>
              </a:spcAft>
              <a:buClr>
                <a:srgbClr val="000000"/>
              </a:buClr>
              <a:buSzPts val="1900"/>
              <a:buChar char="●"/>
            </a:pPr>
            <a:r>
              <a:rPr lang="en-GB" sz="1900">
                <a:solidFill>
                  <a:srgbClr val="000000"/>
                </a:solidFill>
              </a:rPr>
              <a:t>The sensors can automatically adjust their sensitivity based on environmental conditions to ensure optimal performance in varying light conditions.</a:t>
            </a:r>
            <a:endParaRPr sz="1900">
              <a:solidFill>
                <a:srgbClr val="000000"/>
              </a:solidFill>
            </a:endParaRPr>
          </a:p>
          <a:p>
            <a:pPr marL="457200" lvl="0" indent="-349250" algn="just" rtl="0">
              <a:spcBef>
                <a:spcPts val="0"/>
              </a:spcBef>
              <a:spcAft>
                <a:spcPts val="0"/>
              </a:spcAft>
              <a:buClr>
                <a:srgbClr val="000000"/>
              </a:buClr>
              <a:buSzPts val="1900"/>
              <a:buChar char="●"/>
            </a:pPr>
            <a:r>
              <a:rPr lang="en-GB" sz="1900">
                <a:solidFill>
                  <a:srgbClr val="000000"/>
                </a:solidFill>
              </a:rPr>
              <a:t>Sensors will be made more robust with improved weatherproofing and dust resistance.</a:t>
            </a:r>
            <a:endParaRPr sz="19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a:t>HARDWARE REQUIREMENTS</a:t>
            </a:r>
          </a:p>
        </p:txBody>
      </p:sp>
      <p:sp>
        <p:nvSpPr>
          <p:cNvPr id="3" name="Text Box 2"/>
          <p:cNvSpPr txBox="1"/>
          <p:nvPr/>
        </p:nvSpPr>
        <p:spPr>
          <a:xfrm>
            <a:off x="700405" y="1071880"/>
            <a:ext cx="6985000" cy="3294380"/>
          </a:xfrm>
          <a:prstGeom prst="rect">
            <a:avLst/>
          </a:prstGeom>
          <a:noFill/>
        </p:spPr>
        <p:txBody>
          <a:bodyPr wrap="square" rtlCol="0">
            <a:noAutofit/>
          </a:bodyPr>
          <a:lstStyle/>
          <a:p>
            <a:pPr marL="342900" indent="-342900">
              <a:buFont typeface="Arial" panose="020B0604020202020204" pitchFamily="34" charset="0"/>
              <a:buChar char="•"/>
            </a:pPr>
            <a:r>
              <a:rPr lang="en-US" altLang="en-US" sz="1800">
                <a:solidFill>
                  <a:schemeClr val="tx1"/>
                </a:solidFill>
                <a:latin typeface="Times New Roman" panose="02020603050405020304" charset="0"/>
                <a:cs typeface="Times New Roman" panose="02020603050405020304" charset="0"/>
              </a:rPr>
              <a:t>Photoresistor : Detects light intensity. Its resistance decreases with increasing light intensity</a:t>
            </a:r>
          </a:p>
          <a:p>
            <a:pPr marL="342900" indent="-342900">
              <a:buFont typeface="Arial" panose="020B0604020202020204" pitchFamily="34" charset="0"/>
              <a:buChar char="•"/>
            </a:pPr>
            <a:r>
              <a:rPr lang="en-US" altLang="en-US" sz="1800">
                <a:solidFill>
                  <a:schemeClr val="tx1"/>
                </a:solidFill>
                <a:latin typeface="Times New Roman" panose="02020603050405020304" charset="0"/>
                <a:cs typeface="Times New Roman" panose="02020603050405020304" charset="0"/>
              </a:rPr>
              <a:t> Resistors : To create a voltage divider with the LDR.To set the reference voltage for the comparator.</a:t>
            </a:r>
          </a:p>
          <a:p>
            <a:pPr marL="342900" indent="-342900">
              <a:buFont typeface="Arial" panose="020B0604020202020204" pitchFamily="34" charset="0"/>
              <a:buChar char="•"/>
            </a:pPr>
            <a:r>
              <a:rPr lang="en-US" altLang="en-US" sz="1800">
                <a:solidFill>
                  <a:schemeClr val="tx1"/>
                </a:solidFill>
                <a:latin typeface="Times New Roman" panose="02020603050405020304" charset="0"/>
                <a:cs typeface="Times New Roman" panose="02020603050405020304" charset="0"/>
              </a:rPr>
              <a:t>Wires and Connectors : For making connections between components.</a:t>
            </a:r>
          </a:p>
          <a:p>
            <a:pPr marL="342900" indent="-342900">
              <a:buFont typeface="Arial" panose="020B0604020202020204" pitchFamily="34" charset="0"/>
              <a:buChar char="•"/>
            </a:pPr>
            <a:r>
              <a:rPr lang="en-US" altLang="en-US" sz="1800">
                <a:solidFill>
                  <a:schemeClr val="tx1"/>
                </a:solidFill>
                <a:latin typeface="Times New Roman" panose="02020603050405020304" charset="0"/>
                <a:cs typeface="Times New Roman" panose="02020603050405020304" charset="0"/>
              </a:rPr>
              <a:t> Power Supply : Typically 5V or 12V DC, depending on the components used.</a:t>
            </a:r>
          </a:p>
          <a:p>
            <a:pPr marL="342900" indent="-342900">
              <a:buFont typeface="Arial" panose="020B0604020202020204" pitchFamily="34" charset="0"/>
              <a:buChar char="•"/>
            </a:pPr>
            <a:r>
              <a:rPr lang="en-US" altLang="en-US" sz="1800">
                <a:solidFill>
                  <a:schemeClr val="tx1"/>
                </a:solidFill>
                <a:latin typeface="Times New Roman" panose="02020603050405020304" charset="0"/>
                <a:cs typeface="Times New Roman" panose="02020603050405020304" charset="0"/>
              </a:rPr>
              <a:t> LED Light : For indication or testing purposes.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a:solidFill>
                  <a:schemeClr val="tx1"/>
                </a:solidFill>
              </a:rPr>
              <a:t>SCHEMATIC DIAGRAM</a:t>
            </a:r>
          </a:p>
        </p:txBody>
      </p:sp>
      <p:pic>
        <p:nvPicPr>
          <p:cNvPr id="3" name="Picture 2" descr="WhatsApp Image 2025-01-07 at 19.45.22_0c288da6"/>
          <p:cNvPicPr>
            <a:picLocks noChangeAspect="1"/>
          </p:cNvPicPr>
          <p:nvPr/>
        </p:nvPicPr>
        <p:blipFill>
          <a:blip r:embed="rId2"/>
          <a:stretch>
            <a:fillRect/>
          </a:stretch>
        </p:blipFill>
        <p:spPr>
          <a:xfrm>
            <a:off x="381000" y="765810"/>
            <a:ext cx="7567295" cy="43770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a:t>RESULTS</a:t>
            </a:r>
          </a:p>
        </p:txBody>
      </p:sp>
      <p:pic>
        <p:nvPicPr>
          <p:cNvPr id="3" name="Picture 2" descr="WhatsApp Image 2025-01-17 at 19.01.58_7c251b26"/>
          <p:cNvPicPr>
            <a:picLocks noChangeAspect="1"/>
          </p:cNvPicPr>
          <p:nvPr/>
        </p:nvPicPr>
        <p:blipFill>
          <a:blip r:embed="rId2"/>
          <a:stretch>
            <a:fillRect/>
          </a:stretch>
        </p:blipFill>
        <p:spPr>
          <a:xfrm>
            <a:off x="98425" y="913130"/>
            <a:ext cx="2844165" cy="2712720"/>
          </a:xfrm>
          <a:prstGeom prst="rect">
            <a:avLst/>
          </a:prstGeom>
        </p:spPr>
      </p:pic>
      <p:pic>
        <p:nvPicPr>
          <p:cNvPr id="4" name="Picture 3" descr="C:/Users/srividhya/Downloads/WhatsApp Image 2025-01-17 at 19.01.59_ad0eb0db.jpgWhatsApp Image 2025-01-17 at 19.01.59_ad0eb0db"/>
          <p:cNvPicPr>
            <a:picLocks noChangeAspect="1"/>
          </p:cNvPicPr>
          <p:nvPr/>
        </p:nvPicPr>
        <p:blipFill>
          <a:blip r:embed="rId3"/>
          <a:srcRect l="6" r="6"/>
          <a:stretch>
            <a:fillRect/>
          </a:stretch>
        </p:blipFill>
        <p:spPr>
          <a:xfrm>
            <a:off x="3061970" y="913130"/>
            <a:ext cx="2909570" cy="2712720"/>
          </a:xfrm>
          <a:prstGeom prst="rect">
            <a:avLst/>
          </a:prstGeom>
        </p:spPr>
      </p:pic>
      <p:sp>
        <p:nvSpPr>
          <p:cNvPr id="5" name="Text Box 4"/>
          <p:cNvSpPr txBox="1"/>
          <p:nvPr/>
        </p:nvSpPr>
        <p:spPr>
          <a:xfrm>
            <a:off x="388620" y="4097020"/>
            <a:ext cx="2452370" cy="521970"/>
          </a:xfrm>
          <a:prstGeom prst="rect">
            <a:avLst/>
          </a:prstGeom>
          <a:noFill/>
        </p:spPr>
        <p:txBody>
          <a:bodyPr wrap="square" rtlCol="0">
            <a:spAutoFit/>
          </a:bodyPr>
          <a:lstStyle/>
          <a:p>
            <a:r>
              <a:rPr lang="en-US"/>
              <a:t>Device when it’s surroundings are dark</a:t>
            </a:r>
          </a:p>
        </p:txBody>
      </p:sp>
      <p:sp>
        <p:nvSpPr>
          <p:cNvPr id="6" name="Text Box 5"/>
          <p:cNvSpPr txBox="1"/>
          <p:nvPr/>
        </p:nvSpPr>
        <p:spPr>
          <a:xfrm>
            <a:off x="3248025" y="4097655"/>
            <a:ext cx="2859405" cy="521970"/>
          </a:xfrm>
          <a:prstGeom prst="rect">
            <a:avLst/>
          </a:prstGeom>
          <a:noFill/>
        </p:spPr>
        <p:txBody>
          <a:bodyPr wrap="square" rtlCol="0">
            <a:noAutofit/>
          </a:bodyPr>
          <a:lstStyle/>
          <a:p>
            <a:r>
              <a:rPr lang="en-US"/>
              <a:t>Device when it’s surroundings are light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u="sng"/>
              <a:t>CONCLUSION</a:t>
            </a:r>
            <a:endParaRPr b="1" u="sng"/>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Clr>
                <a:srgbClr val="000000"/>
              </a:buClr>
              <a:buSzPts val="1800"/>
              <a:buChar char="●"/>
            </a:pPr>
            <a:r>
              <a:rPr lang="en-US" altLang="en-GB">
                <a:solidFill>
                  <a:srgbClr val="000000"/>
                </a:solidFill>
              </a:rPr>
              <a:t>I</a:t>
            </a:r>
            <a:r>
              <a:rPr lang="en-GB">
                <a:solidFill>
                  <a:srgbClr val="000000"/>
                </a:solidFill>
              </a:rPr>
              <a:t>t is a practical and energy-efficient solution for automatically controlling lighting based on ambient light levels.</a:t>
            </a:r>
            <a:endParaRPr>
              <a:solidFill>
                <a:srgbClr val="000000"/>
              </a:solidFill>
            </a:endParaRPr>
          </a:p>
          <a:p>
            <a:pPr marL="457200" lvl="0" indent="-342900" algn="just" rtl="0">
              <a:spcBef>
                <a:spcPts val="0"/>
              </a:spcBef>
              <a:spcAft>
                <a:spcPts val="0"/>
              </a:spcAft>
              <a:buClr>
                <a:srgbClr val="000000"/>
              </a:buClr>
              <a:buSzPts val="1800"/>
              <a:buChar char="●"/>
            </a:pPr>
            <a:r>
              <a:rPr lang="en-GB">
                <a:solidFill>
                  <a:srgbClr val="000000"/>
                </a:solidFill>
              </a:rPr>
              <a:t>Night light sensors are simple to use, cost-effective, and contribute to reducing energy consumption.</a:t>
            </a:r>
            <a:endParaRPr>
              <a:solidFill>
                <a:srgbClr val="000000"/>
              </a:solidFill>
            </a:endParaRPr>
          </a:p>
          <a:p>
            <a:pPr marL="457200" lvl="0" indent="-342900" algn="just" rtl="0">
              <a:spcBef>
                <a:spcPts val="0"/>
              </a:spcBef>
              <a:spcAft>
                <a:spcPts val="0"/>
              </a:spcAft>
              <a:buClr>
                <a:srgbClr val="000000"/>
              </a:buClr>
              <a:buSzPts val="1800"/>
              <a:buChar char="●"/>
            </a:pPr>
            <a:r>
              <a:rPr lang="en-GB">
                <a:solidFill>
                  <a:srgbClr val="000000"/>
                </a:solidFill>
              </a:rPr>
              <a:t>The sensor helps to turn the light on when darkness falls and off when it gets bright, eliminating the need for manual operation.</a:t>
            </a:r>
            <a:endParaRPr>
              <a:solidFill>
                <a:srgbClr val="000000"/>
              </a:solidFill>
            </a:endParaRPr>
          </a:p>
          <a:p>
            <a:pPr marL="457200" lvl="0" indent="-342900" algn="just" rtl="0">
              <a:spcBef>
                <a:spcPts val="0"/>
              </a:spcBef>
              <a:spcAft>
                <a:spcPts val="0"/>
              </a:spcAft>
              <a:buClr>
                <a:srgbClr val="000000"/>
              </a:buClr>
              <a:buSzPts val="1800"/>
              <a:buChar char="●"/>
            </a:pPr>
            <a:r>
              <a:rPr lang="en-GB">
                <a:solidFill>
                  <a:srgbClr val="000000"/>
                </a:solidFill>
              </a:rPr>
              <a:t>This results in energy savings and enhanced convenience.</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  </a:t>
            </a: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a:t>  </a:t>
            </a:r>
          </a:p>
        </p:txBody>
      </p:sp>
      <p:pic>
        <p:nvPicPr>
          <p:cNvPr id="2" name="Picture 1" descr="istockphoto-1397892955-612x612"/>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543</Words>
  <Application>Microsoft Office PowerPoint</Application>
  <PresentationFormat>On-screen Show (16:9)</PresentationFormat>
  <Paragraphs>51</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Wingdings</vt:lpstr>
      <vt:lpstr>Blue Waves</vt:lpstr>
      <vt:lpstr>          SUMMER INTERNSHIP</vt:lpstr>
      <vt:lpstr>Contents</vt:lpstr>
      <vt:lpstr>ABSTRACT</vt:lpstr>
      <vt:lpstr>INTRODUCTION</vt:lpstr>
      <vt:lpstr>PROBLEM STATEMENT</vt:lpstr>
      <vt:lpstr>EXISTING SYSTEM</vt:lpstr>
      <vt:lpstr>PROPOSED SYSTEM</vt:lpstr>
      <vt:lpstr>HARDWARE REQUIREMENTS</vt:lpstr>
      <vt:lpstr>SCHEMATIC DIAGRAM</vt:lpstr>
      <vt:lpstr>RESULTS</vt:lpstr>
      <vt:lpstr>CONCLUSION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SUMMER INTERNSHIP</dc:title>
  <dc:creator/>
  <cp:lastModifiedBy>Arukala Sai Ram</cp:lastModifiedBy>
  <cp:revision>8</cp:revision>
  <dcterms:created xsi:type="dcterms:W3CDTF">2024-12-05T16:33:00Z</dcterms:created>
  <dcterms:modified xsi:type="dcterms:W3CDTF">2025-01-20T05:52:16Z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911DD9DC66FE4818A72BF2F6DD6A1878_13</vt:lpwstr>
  </property>
  <property fmtid="{D5CDD505-2E9C-101B-9397-08002B2CF9AE}" pid="3" name="KSOProductBuildVer">
    <vt:lpwstr>1033-12.2.0.19805</vt:lpwstr>
  </property>
</Properties>
</file>